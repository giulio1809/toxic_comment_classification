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T Hoves Bold" charset="1" panose="02000003020000060003"/>
      <p:regular r:id="rId21"/>
    </p:embeddedFont>
    <p:embeddedFont>
      <p:font typeface="TT Hoves" charset="1" panose="02000003020000060003"/>
      <p:regular r:id="rId22"/>
    </p:embeddedFont>
    <p:embeddedFont>
      <p:font typeface="Montserrat Bold" charset="1" panose="00000800000000000000"/>
      <p:regular r:id="rId23"/>
    </p:embeddedFont>
    <p:embeddedFont>
      <p:font typeface="Montserrat" charset="1" panose="00000500000000000000"/>
      <p:regular r:id="rId24"/>
    </p:embeddedFont>
    <p:embeddedFont>
      <p:font typeface="TT Hoves Italics" charset="1" panose="020000030200000600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47850" y="-4396238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47773" y="5412344"/>
            <a:ext cx="9854756" cy="116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 spc="-19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Text </a:t>
            </a:r>
            <a:r>
              <a:rPr lang="en-US" sz="3999" spc="-19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Mining and Search</a:t>
            </a:r>
          </a:p>
          <a:p>
            <a:pPr algn="l">
              <a:lnSpc>
                <a:spcPts val="4599"/>
              </a:lnSpc>
            </a:pPr>
            <a:r>
              <a:rPr lang="en-US" b="true" sz="3999" spc="-19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A.Y. 2025/2026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7773" y="2626380"/>
            <a:ext cx="12941405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5999" spc="-293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Online Toxicity Analysis: Comparative Evaluation of Text Classificat</a:t>
            </a:r>
            <a:r>
              <a:rPr lang="en-US" b="true" sz="5999" spc="-293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ion and Topic Modeling Techniques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3061" y="7215109"/>
            <a:ext cx="8459795" cy="5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Garofalo Kevin 930804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3061" y="7847022"/>
            <a:ext cx="8459795" cy="5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Lonati Giulio 924924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3061" y="8510773"/>
            <a:ext cx="8459795" cy="5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Siano Vincenzo 934168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8361" y="3953175"/>
            <a:ext cx="10554779" cy="481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pc="5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Online platforms face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increasing challenges in moderating 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toxic and abusive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user-generated content at scale</a:t>
            </a:r>
          </a:p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Toxicity detection goes beyond sentiment analysis, requiring understanding of 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context, sarcasm, and identity-based hate</a:t>
            </a:r>
          </a:p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Manual moderation is 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not scalable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, motivating automated Text Mining and NLP-based solutions</a:t>
            </a:r>
          </a:p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This project compares 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classical machine learning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and 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deep learning approaches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for:</a:t>
            </a:r>
          </a:p>
          <a:p>
            <a:pPr algn="l" marL="1122671" indent="-374224" lvl="2">
              <a:lnSpc>
                <a:spcPts val="350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Text Classification 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(multi-label, supervised learning)</a:t>
            </a:r>
          </a:p>
          <a:p>
            <a:pPr algn="l" marL="1122671" indent="-374224" lvl="2">
              <a:lnSpc>
                <a:spcPts val="3509"/>
              </a:lnSpc>
              <a:buFont typeface="Arial"/>
              <a:buChar char="⚬"/>
            </a:pP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Topic Modeling 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(unsupervised learning)</a:t>
            </a:r>
          </a:p>
          <a:p>
            <a:pPr algn="l" marL="0" indent="0" lvl="0">
              <a:lnSpc>
                <a:spcPts val="3509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5274174" cy="11878896"/>
            <a:chOff x="0" y="0"/>
            <a:chExt cx="1389083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9083" cy="3128598"/>
            </a:xfrm>
            <a:custGeom>
              <a:avLst/>
              <a:gdLst/>
              <a:ahLst/>
              <a:cxnLst/>
              <a:rect r="r" b="b" t="t" l="l"/>
              <a:pathLst>
                <a:path h="3128598" w="1389083">
                  <a:moveTo>
                    <a:pt x="0" y="0"/>
                  </a:moveTo>
                  <a:lnTo>
                    <a:pt x="1389083" y="0"/>
                  </a:lnTo>
                  <a:lnTo>
                    <a:pt x="138908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9083" cy="317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29611" y="1470296"/>
            <a:ext cx="9760574" cy="123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b="true" sz="9699" spc="-475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2399068" y="7849148"/>
            <a:ext cx="3117321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2170468" y="1852720"/>
            <a:ext cx="3117321" cy="8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Text Mining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1725735" y="6821207"/>
            <a:ext cx="5508869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019189" y="4000800"/>
            <a:ext cx="709172" cy="707290"/>
          </a:xfrm>
          <a:custGeom>
            <a:avLst/>
            <a:gdLst/>
            <a:ahLst/>
            <a:cxnLst/>
            <a:rect r="r" b="b" t="t" l="l"/>
            <a:pathLst>
              <a:path h="707290" w="709172">
                <a:moveTo>
                  <a:pt x="0" y="0"/>
                </a:moveTo>
                <a:lnTo>
                  <a:pt x="709172" y="0"/>
                </a:lnTo>
                <a:lnTo>
                  <a:pt x="709172" y="707290"/>
                </a:lnTo>
                <a:lnTo>
                  <a:pt x="0" y="70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6793" y="436285"/>
            <a:ext cx="13311743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spc="-47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Dataset and EDA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60346" y="1993829"/>
            <a:ext cx="9381233" cy="408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4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Dataset:</a:t>
            </a:r>
            <a:r>
              <a:rPr lang="en-US" sz="2399" spc="4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Wikip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edia talk pages’ comments                             (Train: </a:t>
            </a:r>
            <a:r>
              <a:rPr lang="en-US" b="true" sz="2399" spc="47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159,571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, Test: </a:t>
            </a:r>
            <a:r>
              <a:rPr lang="en-US" b="true" sz="2399" spc="47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153,164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)</a:t>
            </a:r>
          </a:p>
          <a:p>
            <a:pPr algn="l" marL="518157" indent="-259078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47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Labels: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399" i="true" spc="47" u="none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toxic, severe_toxic, obscene, threat, insult, identity_hate</a:t>
            </a:r>
          </a:p>
          <a:p>
            <a:pPr algn="l" marL="518157" indent="-259078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Severe </a:t>
            </a:r>
            <a:r>
              <a:rPr lang="en-US" b="true" sz="2399" spc="47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class imbalance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</a:t>
            </a:r>
            <a:r>
              <a:rPr lang="en-US" b="true" sz="2399" spc="47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e.g.</a:t>
            </a:r>
            <a:r>
              <a:rPr lang="en-US" b="true" sz="2399" spc="47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  <a:r>
              <a:rPr lang="en-US" sz="2399" i="true" spc="47" u="none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threat, identity_hate</a:t>
            </a:r>
          </a:p>
          <a:p>
            <a:pPr algn="l" marL="518157" indent="-259078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47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 Cleaning:</a:t>
            </a:r>
          </a:p>
          <a:p>
            <a:pPr algn="l" marL="1036314" indent="-345438" lvl="2">
              <a:lnSpc>
                <a:spcPts val="3239"/>
              </a:lnSpc>
              <a:spcBef>
                <a:spcPct val="0"/>
              </a:spcBef>
              <a:buFont typeface="Arial"/>
              <a:buChar char="⚬"/>
            </a:pPr>
            <a:r>
              <a:rPr lang="en-US" sz="2399" i="true" spc="47" u="none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Classification: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Removed ambiguous labels (</a:t>
            </a:r>
            <a:r>
              <a:rPr lang="en-US" b="true" sz="2399" spc="47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-1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) from </a:t>
            </a:r>
            <a:r>
              <a:rPr lang="en-US" b="true" sz="2399" spc="47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test set 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(</a:t>
            </a:r>
            <a:r>
              <a:rPr lang="en-US" b="true" sz="2399" spc="47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63,978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samples)</a:t>
            </a:r>
          </a:p>
          <a:p>
            <a:pPr algn="l" marL="1036314" indent="-345438" lvl="2">
              <a:lnSpc>
                <a:spcPts val="3239"/>
              </a:lnSpc>
              <a:spcBef>
                <a:spcPct val="0"/>
              </a:spcBef>
              <a:buFont typeface="Arial"/>
              <a:buChar char="⚬"/>
            </a:pPr>
            <a:r>
              <a:rPr lang="en-US" sz="2399" i="true" spc="47" u="none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Topic Modeling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 Combined train and test sets (</a:t>
            </a:r>
            <a:r>
              <a:rPr lang="en-US" b="true" sz="2399" spc="47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22,468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samples for toxic-only subset, while </a:t>
            </a:r>
            <a:r>
              <a:rPr lang="en-US" b="true" sz="2399" spc="47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2,117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for </a:t>
            </a:r>
            <a:r>
              <a:rPr lang="en-US" sz="2399" i="true" spc="47" u="none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identity_hate</a:t>
            </a:r>
            <a:r>
              <a:rPr lang="en-US" sz="2399" spc="47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)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Dataset and EDA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286512" y="6297618"/>
            <a:ext cx="4314416" cy="2146853"/>
          </a:xfrm>
          <a:custGeom>
            <a:avLst/>
            <a:gdLst/>
            <a:ahLst/>
            <a:cxnLst/>
            <a:rect r="r" b="b" t="t" l="l"/>
            <a:pathLst>
              <a:path h="2146853" w="4314416">
                <a:moveTo>
                  <a:pt x="0" y="0"/>
                </a:moveTo>
                <a:lnTo>
                  <a:pt x="4314415" y="0"/>
                </a:lnTo>
                <a:lnTo>
                  <a:pt x="4314415" y="2146853"/>
                </a:lnTo>
                <a:lnTo>
                  <a:pt x="0" y="2146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82" t="-7799" r="-1301" b="-255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-849366" y="1806831"/>
            <a:ext cx="311732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Mining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63798" y="7892546"/>
            <a:ext cx="7498697" cy="31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9"/>
              </a:lnSpc>
            </a:pPr>
            <a:r>
              <a:rPr lang="en-US" b="true" sz="24999" spc="-122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056992" y="6297618"/>
            <a:ext cx="4311067" cy="2146853"/>
          </a:xfrm>
          <a:custGeom>
            <a:avLst/>
            <a:gdLst/>
            <a:ahLst/>
            <a:cxnLst/>
            <a:rect r="r" b="b" t="t" l="l"/>
            <a:pathLst>
              <a:path h="2146853" w="4311067">
                <a:moveTo>
                  <a:pt x="0" y="0"/>
                </a:moveTo>
                <a:lnTo>
                  <a:pt x="4311067" y="0"/>
                </a:lnTo>
                <a:lnTo>
                  <a:pt x="4311067" y="2146853"/>
                </a:lnTo>
                <a:lnTo>
                  <a:pt x="0" y="21468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98" t="-7150" r="-1299" b="-270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60346" y="8612505"/>
            <a:ext cx="10877959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</a:t>
            </a:r>
            <a:r>
              <a:rPr lang="en-US" sz="23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istinct vocabularies for </a:t>
            </a:r>
            <a:r>
              <a:rPr lang="en-US" b="true" sz="2399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toxic vs. clean</a:t>
            </a:r>
            <a:r>
              <a:rPr lang="en-US" sz="23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comments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Overlapping </a:t>
            </a:r>
            <a:r>
              <a:rPr lang="en-US" b="true" sz="2399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length distributions</a:t>
            </a:r>
            <a:r>
              <a:rPr lang="en-US" sz="23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for both toxic and non-toxic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Some labels (e.g. </a:t>
            </a:r>
            <a:r>
              <a:rPr lang="en-US" sz="2399" i="true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threat</a:t>
            </a:r>
            <a:r>
              <a:rPr lang="en-US" sz="23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, </a:t>
            </a:r>
            <a:r>
              <a:rPr lang="en-US" sz="2399" i="true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identity_hate</a:t>
            </a:r>
            <a:r>
              <a:rPr lang="en-US" sz="23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) are extremely rare</a:t>
            </a:r>
          </a:p>
        </p:txBody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2429221" y="1465425"/>
          <a:ext cx="5283427" cy="6200775"/>
        </p:xfrm>
        <a:graphic>
          <a:graphicData uri="http://schemas.openxmlformats.org/drawingml/2006/table">
            <a:tbl>
              <a:tblPr/>
              <a:tblGrid>
                <a:gridCol w="1683701"/>
                <a:gridCol w="1879706"/>
                <a:gridCol w="1720020"/>
              </a:tblGrid>
              <a:tr h="7379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Label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Count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Percentage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</a:tr>
              <a:tr h="7379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Toxic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15,294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9.58%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9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Severe Toxic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1,5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95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1.00%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9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Obscene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8,4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49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5.29%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9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343434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Threat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343434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478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343434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0.30%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9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Insult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7,877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4.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94%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9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343434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Identity Hate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343434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1,405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343434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0.88%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50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Clean</a:t>
                      </a:r>
                      <a:endParaRPr lang="en-US" sz="1100"/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(non-toxic)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1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43,346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8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9.83%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</a:tbl>
          </a:graphicData>
        </a:graphic>
      </p:graphicFrame>
      <p:sp>
        <p:nvSpPr>
          <p:cNvPr name="Freeform 15" id="15"/>
          <p:cNvSpPr/>
          <p:nvPr/>
        </p:nvSpPr>
        <p:spPr>
          <a:xfrm flipH="false" flipV="false" rot="0">
            <a:off x="1751412" y="2031929"/>
            <a:ext cx="506525" cy="507786"/>
          </a:xfrm>
          <a:custGeom>
            <a:avLst/>
            <a:gdLst/>
            <a:ahLst/>
            <a:cxnLst/>
            <a:rect r="r" b="b" t="t" l="l"/>
            <a:pathLst>
              <a:path h="507786" w="506525">
                <a:moveTo>
                  <a:pt x="0" y="0"/>
                </a:moveTo>
                <a:lnTo>
                  <a:pt x="506525" y="0"/>
                </a:lnTo>
                <a:lnTo>
                  <a:pt x="506525" y="507786"/>
                </a:lnTo>
                <a:lnTo>
                  <a:pt x="0" y="5077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5400000">
            <a:off x="-1280031" y="7372593"/>
            <a:ext cx="397865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-849366" y="1806831"/>
            <a:ext cx="311732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Mining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89794" y="436285"/>
            <a:ext cx="15249472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spc="-47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3798" y="7892546"/>
            <a:ext cx="7498697" cy="31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9"/>
              </a:lnSpc>
            </a:pPr>
            <a:r>
              <a:rPr lang="en-US" b="true" sz="24999" spc="-122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grpSp>
        <p:nvGrpSpPr>
          <p:cNvPr name="Group 10" id="10"/>
          <p:cNvGrpSpPr/>
          <p:nvPr/>
        </p:nvGrpSpPr>
        <p:grpSpPr>
          <a:xfrm rot="-2700000">
            <a:off x="5851355" y="5048435"/>
            <a:ext cx="1654659" cy="1100325"/>
            <a:chOff x="0" y="0"/>
            <a:chExt cx="647700" cy="4307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7700" cy="430712"/>
            </a:xfrm>
            <a:custGeom>
              <a:avLst/>
              <a:gdLst/>
              <a:ahLst/>
              <a:cxnLst/>
              <a:rect r="r" b="b" t="t" l="l"/>
              <a:pathLst>
                <a:path h="430712" w="647700">
                  <a:moveTo>
                    <a:pt x="239386" y="165752"/>
                  </a:moveTo>
                  <a:lnTo>
                    <a:pt x="647700" y="165752"/>
                  </a:lnTo>
                  <a:lnTo>
                    <a:pt x="647700" y="264940"/>
                  </a:lnTo>
                  <a:lnTo>
                    <a:pt x="239373" y="264940"/>
                  </a:lnTo>
                  <a:lnTo>
                    <a:pt x="302255" y="430712"/>
                  </a:lnTo>
                  <a:lnTo>
                    <a:pt x="0" y="215356"/>
                  </a:lnTo>
                  <a:lnTo>
                    <a:pt x="302255" y="0"/>
                  </a:lnTo>
                  <a:lnTo>
                    <a:pt x="239386" y="165752"/>
                  </a:lnTo>
                  <a:close/>
                </a:path>
              </a:pathLst>
            </a:custGeom>
            <a:solidFill>
              <a:srgbClr val="D55E0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0650" y="107950"/>
              <a:ext cx="527050" cy="157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694952" y="2295886"/>
            <a:ext cx="4239157" cy="262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599" spc="51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General cleaning:</a:t>
            </a:r>
          </a:p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AutoNum type="arabicPeriod" startAt="1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HTML tags and URLs</a:t>
            </a:r>
          </a:p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AutoNum type="arabicPeriod" startAt="1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U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ser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m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ti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ons</a:t>
            </a:r>
          </a:p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AutoNum type="arabicPeriod" startAt="1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IP addresse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</a:p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AutoNum type="arabicPeriod" startAt="1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Repeated characters</a:t>
            </a:r>
          </a:p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AutoNum type="arabicPeriod" startAt="1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dund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 whitespace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56865" y="6439281"/>
            <a:ext cx="3721718" cy="218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09"/>
              </a:lnSpc>
            </a:pPr>
            <a:r>
              <a:rPr lang="en-US" b="true" sz="2599" spc="5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Statistical 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models:</a:t>
            </a:r>
          </a:p>
          <a:p>
            <a:pPr algn="just" marL="561336" indent="-280668" lvl="1">
              <a:lnSpc>
                <a:spcPts val="3509"/>
              </a:lnSpc>
              <a:buAutoNum type="arabicPeriod" startAt="1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Tokenization</a:t>
            </a:r>
          </a:p>
          <a:p>
            <a:pPr algn="just" marL="561336" indent="-280668" lvl="1">
              <a:lnSpc>
                <a:spcPts val="3509"/>
              </a:lnSpc>
              <a:buAutoNum type="arabicPeriod" startAt="1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Stop-wor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removal</a:t>
            </a:r>
          </a:p>
          <a:p>
            <a:pPr algn="just" marL="561336" indent="-280668" lvl="1">
              <a:lnSpc>
                <a:spcPts val="3509"/>
              </a:lnSpc>
              <a:buAutoNum type="arabicPeriod" startAt="1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Lemmatization</a:t>
            </a:r>
          </a:p>
          <a:p>
            <a:pPr algn="just">
              <a:lnSpc>
                <a:spcPts val="350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871626" y="6439281"/>
            <a:ext cx="3875665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b="true" sz="2599" spc="5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Deep Learning models</a:t>
            </a:r>
            <a:r>
              <a:rPr lang="en-US" sz="2599" spc="5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: no further cleaning to preserve context</a:t>
            </a:r>
          </a:p>
        </p:txBody>
      </p:sp>
      <p:grpSp>
        <p:nvGrpSpPr>
          <p:cNvPr name="Group 16" id="16"/>
          <p:cNvGrpSpPr/>
          <p:nvPr/>
        </p:nvGrpSpPr>
        <p:grpSpPr>
          <a:xfrm rot="-8100000">
            <a:off x="12123046" y="5048435"/>
            <a:ext cx="1654659" cy="1100325"/>
            <a:chOff x="0" y="0"/>
            <a:chExt cx="647700" cy="4307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7700" cy="430712"/>
            </a:xfrm>
            <a:custGeom>
              <a:avLst/>
              <a:gdLst/>
              <a:ahLst/>
              <a:cxnLst/>
              <a:rect r="r" b="b" t="t" l="l"/>
              <a:pathLst>
                <a:path h="430712" w="647700">
                  <a:moveTo>
                    <a:pt x="239386" y="165752"/>
                  </a:moveTo>
                  <a:lnTo>
                    <a:pt x="647700" y="165752"/>
                  </a:lnTo>
                  <a:lnTo>
                    <a:pt x="647700" y="264940"/>
                  </a:lnTo>
                  <a:lnTo>
                    <a:pt x="239373" y="264940"/>
                  </a:lnTo>
                  <a:lnTo>
                    <a:pt x="302255" y="430712"/>
                  </a:lnTo>
                  <a:lnTo>
                    <a:pt x="0" y="215356"/>
                  </a:lnTo>
                  <a:lnTo>
                    <a:pt x="302255" y="0"/>
                  </a:lnTo>
                  <a:lnTo>
                    <a:pt x="239386" y="165752"/>
                  </a:lnTo>
                  <a:close/>
                </a:path>
              </a:pathLst>
            </a:custGeom>
            <a:solidFill>
              <a:srgbClr val="D55E0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0650" y="107950"/>
              <a:ext cx="527050" cy="157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30185" y="3146162"/>
            <a:ext cx="4433221" cy="1708556"/>
            <a:chOff x="0" y="0"/>
            <a:chExt cx="5910962" cy="2278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82953"/>
              <a:ext cx="3161803" cy="1712168"/>
            </a:xfrm>
            <a:custGeom>
              <a:avLst/>
              <a:gdLst/>
              <a:ahLst/>
              <a:cxnLst/>
              <a:rect r="r" b="b" t="t" l="l"/>
              <a:pathLst>
                <a:path h="1712168" w="3161803">
                  <a:moveTo>
                    <a:pt x="0" y="0"/>
                  </a:moveTo>
                  <a:lnTo>
                    <a:pt x="3161803" y="0"/>
                  </a:lnTo>
                  <a:lnTo>
                    <a:pt x="3161803" y="1712168"/>
                  </a:lnTo>
                  <a:lnTo>
                    <a:pt x="0" y="1712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632887" y="0"/>
              <a:ext cx="2278075" cy="2278075"/>
            </a:xfrm>
            <a:custGeom>
              <a:avLst/>
              <a:gdLst/>
              <a:ahLst/>
              <a:cxnLst/>
              <a:rect r="r" b="b" t="t" l="l"/>
              <a:pathLst>
                <a:path h="2278075" w="2278075">
                  <a:moveTo>
                    <a:pt x="0" y="0"/>
                  </a:moveTo>
                  <a:lnTo>
                    <a:pt x="2278075" y="0"/>
                  </a:lnTo>
                  <a:lnTo>
                    <a:pt x="2278075" y="2278075"/>
                  </a:lnTo>
                  <a:lnTo>
                    <a:pt x="0" y="2278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4491636" y="4854718"/>
            <a:ext cx="1710319" cy="1710319"/>
          </a:xfrm>
          <a:custGeom>
            <a:avLst/>
            <a:gdLst/>
            <a:ahLst/>
            <a:cxnLst/>
            <a:rect r="r" b="b" t="t" l="l"/>
            <a:pathLst>
              <a:path h="1710319" w="1710319">
                <a:moveTo>
                  <a:pt x="0" y="0"/>
                </a:moveTo>
                <a:lnTo>
                  <a:pt x="1710319" y="0"/>
                </a:lnTo>
                <a:lnTo>
                  <a:pt x="1710319" y="1710318"/>
                </a:lnTo>
                <a:lnTo>
                  <a:pt x="0" y="1710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-1432176" y="7220448"/>
            <a:ext cx="428294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Classification: Methods</a:t>
            </a:r>
          </a:p>
        </p:txBody>
      </p:sp>
      <p:sp>
        <p:nvSpPr>
          <p:cNvPr name="TextBox 11" id="11"/>
          <p:cNvSpPr txBox="true"/>
          <p:nvPr/>
        </p:nvSpPr>
        <p:spPr>
          <a:xfrm rot="-5400000">
            <a:off x="-849366" y="1806831"/>
            <a:ext cx="311732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Mining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89794" y="1830665"/>
            <a:ext cx="1331174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 spc="-24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Methods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89794" y="3098537"/>
            <a:ext cx="9562370" cy="5408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 spc="5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Text Repr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esentation</a:t>
            </a:r>
          </a:p>
          <a:p>
            <a:pPr algn="l" marL="1122671" indent="-374224" lvl="2">
              <a:lnSpc>
                <a:spcPts val="350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Bag-of-Words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for statistical classifiers</a:t>
            </a:r>
          </a:p>
          <a:p>
            <a:pPr algn="l" marL="1122671" indent="-374224" lvl="2">
              <a:lnSpc>
                <a:spcPts val="350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Contextual word embeddings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f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T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ran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form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er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-bas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del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</a:p>
          <a:p>
            <a:pPr algn="l">
              <a:lnSpc>
                <a:spcPts val="2391"/>
              </a:lnSpc>
            </a:pPr>
          </a:p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Ma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hi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ne 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Lea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ning classifi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rs</a:t>
            </a:r>
          </a:p>
          <a:p>
            <a:pPr algn="l" marL="1122671" indent="-374224" lvl="2">
              <a:lnSpc>
                <a:spcPts val="3509"/>
              </a:lnSpc>
              <a:spcBef>
                <a:spcPct val="0"/>
              </a:spcBef>
              <a:buFont typeface="Arial"/>
              <a:buChar char="⚬"/>
            </a:pPr>
            <a:r>
              <a:rPr lang="en-US" sz="2599" i="true" spc="51" u="none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Naive Bayes, Logistic Regression, LinearSVM, SGD</a:t>
            </a:r>
          </a:p>
          <a:p>
            <a:pPr algn="l" marL="1122671" indent="-374224" lvl="2">
              <a:lnSpc>
                <a:spcPts val="350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O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n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e-vs-Res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ate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gy</a:t>
            </a:r>
          </a:p>
          <a:p>
            <a:pPr algn="l">
              <a:lnSpc>
                <a:spcPts val="2391"/>
              </a:lnSpc>
            </a:pPr>
          </a:p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Deep Learning</a:t>
            </a:r>
          </a:p>
          <a:p>
            <a:pPr algn="l" marL="1122671" indent="-374224" lvl="2">
              <a:lnSpc>
                <a:spcPts val="3509"/>
              </a:lnSpc>
              <a:spcBef>
                <a:spcPct val="0"/>
              </a:spcBef>
              <a:buFont typeface="Arial"/>
              <a:buChar char="⚬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ne-tuned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 D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i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ti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lBERT 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 multi-label pred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ic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on</a:t>
            </a:r>
          </a:p>
          <a:p>
            <a:pPr algn="l" marL="1122671" indent="-374224" lvl="2">
              <a:lnSpc>
                <a:spcPts val="350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Binary Cross-Entropy loss 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and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 AdamW optimizer</a:t>
            </a:r>
          </a:p>
          <a:p>
            <a:pPr algn="l" marL="1122671" indent="-374224" lvl="2">
              <a:lnSpc>
                <a:spcPts val="350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Dynamic padding 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(</a:t>
            </a:r>
            <a:r>
              <a:rPr lang="en-US" sz="2599" i="true" spc="51" u="none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max length = 256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89794" y="436285"/>
            <a:ext cx="13311743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spc="-47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Text Classification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63798" y="7892546"/>
            <a:ext cx="7498697" cy="31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9"/>
              </a:lnSpc>
            </a:pPr>
            <a:r>
              <a:rPr lang="en-US" b="true" sz="24999" spc="-122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-5400000">
            <a:off x="-1280031" y="7372593"/>
            <a:ext cx="397865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Classification: Results</a:t>
            </a: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-849366" y="1806831"/>
            <a:ext cx="311732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Mining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189794" y="3049012"/>
          <a:ext cx="7718577" cy="5638800"/>
        </p:xfrm>
        <a:graphic>
          <a:graphicData uri="http://schemas.openxmlformats.org/drawingml/2006/table">
            <a:tbl>
              <a:tblPr/>
              <a:tblGrid>
                <a:gridCol w="3894407"/>
                <a:gridCol w="3824170"/>
              </a:tblGrid>
              <a:tr h="8055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ROC-AUC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</a:tr>
              <a:tr h="8055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Naive Bayes (TF)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0.8720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5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Logistic Regression (TF-IDF)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0.9806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8055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LinearSVC (TF-IDF)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0.9688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5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SGD (Log Loss, TF-IDF)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0.9769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5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SGD (Hinge Loss, TF-IDF)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0.9797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5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DistilBERT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0.9922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4962035" y="2576460"/>
            <a:ext cx="2174095" cy="41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b="true" sz="3000" spc="-14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Evaluation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937071" y="3049012"/>
          <a:ext cx="5057117" cy="3039323"/>
        </p:xfrm>
        <a:graphic>
          <a:graphicData uri="http://schemas.openxmlformats.org/drawingml/2006/table">
            <a:tbl>
              <a:tblPr/>
              <a:tblGrid>
                <a:gridCol w="1714157"/>
                <a:gridCol w="1683242"/>
                <a:gridCol w="1659718"/>
              </a:tblGrid>
              <a:tr h="810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ROC-AUC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F1 Macro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</a:tr>
              <a:tr h="1167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0.9618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19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DistilBERT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0.9865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0.61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2378582" y="2561895"/>
            <a:ext cx="2174095" cy="41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b="true" sz="3000" spc="-14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Test 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63798" y="7892546"/>
            <a:ext cx="7498697" cy="31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9"/>
              </a:lnSpc>
            </a:pPr>
            <a:r>
              <a:rPr lang="en-US" b="true" sz="24999" spc="-122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89794" y="436285"/>
            <a:ext cx="13311743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spc="-47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Results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51911" y="3112724"/>
            <a:ext cx="4984460" cy="3924130"/>
          </a:xfrm>
          <a:custGeom>
            <a:avLst/>
            <a:gdLst/>
            <a:ahLst/>
            <a:cxnLst/>
            <a:rect r="r" b="b" t="t" l="l"/>
            <a:pathLst>
              <a:path h="3924130" w="4984460">
                <a:moveTo>
                  <a:pt x="0" y="0"/>
                </a:moveTo>
                <a:lnTo>
                  <a:pt x="4984460" y="0"/>
                </a:lnTo>
                <a:lnTo>
                  <a:pt x="4984460" y="3924130"/>
                </a:lnTo>
                <a:lnTo>
                  <a:pt x="0" y="3924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89794" y="3770622"/>
            <a:ext cx="8337451" cy="555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 spc="5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Bag-of-Words approach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es</a:t>
            </a:r>
          </a:p>
          <a:p>
            <a:pPr algn="l" marL="1122671" indent="-374224" lvl="2">
              <a:lnSpc>
                <a:spcPts val="350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Latent Dirichlet Allocation (LDA):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term-frequency (</a:t>
            </a:r>
            <a:r>
              <a:rPr lang="en-US" sz="2599" i="true" spc="51" u="none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TF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) representation</a:t>
            </a:r>
          </a:p>
          <a:p>
            <a:pPr algn="l" marL="1122671" indent="-374224" lvl="2">
              <a:lnSpc>
                <a:spcPts val="350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Non-negative Matrix Factorization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(NMF):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599" i="true" spc="51" u="none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TF-IDF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representation</a:t>
            </a:r>
          </a:p>
          <a:p>
            <a:pPr algn="l">
              <a:lnSpc>
                <a:spcPts val="2391"/>
              </a:lnSpc>
            </a:pPr>
          </a:p>
          <a:p>
            <a:pPr algn="l" marL="561336" indent="-280668" lvl="1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Contextual emb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eddings (BERTopic)</a:t>
            </a:r>
          </a:p>
          <a:p>
            <a:pPr algn="l" marL="1122671" indent="-374224" lvl="2">
              <a:lnSpc>
                <a:spcPts val="3509"/>
              </a:lnSpc>
              <a:spcBef>
                <a:spcPct val="0"/>
              </a:spcBef>
              <a:buFont typeface="Arial"/>
              <a:buChar char="⚬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Neural topic modeling via 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sentence embeddings</a:t>
            </a:r>
          </a:p>
          <a:p>
            <a:pPr algn="l" marL="1122671" indent="-374224" lvl="2">
              <a:lnSpc>
                <a:spcPts val="350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Clustering-based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topic discovery</a:t>
            </a:r>
          </a:p>
          <a:p>
            <a:pPr algn="l" marL="1684007" indent="-421002" lvl="3">
              <a:lnSpc>
                <a:spcPts val="3509"/>
              </a:lnSpc>
              <a:spcBef>
                <a:spcPct val="0"/>
              </a:spcBef>
              <a:buFont typeface="Arial"/>
              <a:buChar char="￭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Density-based (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HDBSCAN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)</a:t>
            </a:r>
          </a:p>
          <a:p>
            <a:pPr algn="l" marL="1684007" indent="-421002" lvl="3">
              <a:lnSpc>
                <a:spcPts val="3509"/>
              </a:lnSpc>
              <a:spcBef>
                <a:spcPct val="0"/>
              </a:spcBef>
              <a:buFont typeface="Arial"/>
              <a:buChar char="￭"/>
            </a:pP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Centroid-based (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k</a:t>
            </a:r>
            <a:r>
              <a:rPr lang="en-US" b="true" sz="2599" spc="51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-means</a:t>
            </a:r>
            <a:r>
              <a:rPr lang="en-US" sz="2599" spc="51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)</a:t>
            </a:r>
          </a:p>
          <a:p>
            <a:pPr algn="l">
              <a:lnSpc>
                <a:spcPts val="350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-1413193" y="7239431"/>
            <a:ext cx="4244976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Topic Modeling: Methods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66" y="1806831"/>
            <a:ext cx="311732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Mining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89794" y="843801"/>
            <a:ext cx="13311743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spc="-47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Topic Modeling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89794" y="2238180"/>
            <a:ext cx="1331174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 spc="-24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Methods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63798" y="7892546"/>
            <a:ext cx="7498697" cy="31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9"/>
              </a:lnSpc>
            </a:pPr>
            <a:r>
              <a:rPr lang="en-US" b="true" sz="24999" spc="-122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-5400000">
            <a:off x="-2301524" y="6351100"/>
            <a:ext cx="6021637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Topic Modeling: Toxic-only Results</a:t>
            </a: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-849366" y="1806831"/>
            <a:ext cx="311732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Mining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89794" y="843801"/>
            <a:ext cx="13311743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spc="-47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Topic Modeling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27822" y="2238180"/>
            <a:ext cx="1331174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 spc="-24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Results: Toxic-only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994107" y="3029318"/>
          <a:ext cx="12691601" cy="7086600"/>
        </p:xfrm>
        <a:graphic>
          <a:graphicData uri="http://schemas.openxmlformats.org/drawingml/2006/table">
            <a:tbl>
              <a:tblPr/>
              <a:tblGrid>
                <a:gridCol w="2256090"/>
                <a:gridCol w="2145030"/>
                <a:gridCol w="2177124"/>
                <a:gridCol w="2037785"/>
                <a:gridCol w="2037785"/>
                <a:gridCol w="2037785"/>
              </a:tblGrid>
              <a:tr h="10342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Coherence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Lexical </a:t>
                      </a:r>
                      <a:endParaRPr lang="en-US" sz="1100"/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Diversity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Perplexity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Reconstruction</a:t>
                      </a:r>
                      <a:endParaRPr lang="en-US" sz="1100"/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Error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Semantic Diversity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</a:tr>
              <a:tr h="737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LDA (k = 5)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0.514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0.96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0,0010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LDA (k = 10)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0.515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0,0011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NMF (k = 5)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0.490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0.92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147.1227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NMF (k = 10)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0.457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0.69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145.6265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42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BERTopic with HDBSCAN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0.367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0.528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10342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BERTopic with</a:t>
                      </a:r>
                      <a:endParaRPr lang="en-US" sz="1100"/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k-means (k = 5)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0.454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0.276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42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BERTopic with</a:t>
                      </a:r>
                      <a:endParaRPr lang="en-US" sz="1100"/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k-means (k = 10)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0.455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0.329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3263798" y="7892546"/>
            <a:ext cx="7498697" cy="31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9"/>
              </a:lnSpc>
            </a:pPr>
            <a:r>
              <a:rPr lang="en-US" b="true" sz="24999" spc="-122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07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189794" y="2259586"/>
            <a:ext cx="506525" cy="568923"/>
          </a:xfrm>
          <a:custGeom>
            <a:avLst/>
            <a:gdLst/>
            <a:ahLst/>
            <a:cxnLst/>
            <a:rect r="r" b="b" t="t" l="l"/>
            <a:pathLst>
              <a:path h="568923" w="506525">
                <a:moveTo>
                  <a:pt x="0" y="0"/>
                </a:moveTo>
                <a:lnTo>
                  <a:pt x="506525" y="0"/>
                </a:lnTo>
                <a:lnTo>
                  <a:pt x="506525" y="568923"/>
                </a:lnTo>
                <a:lnTo>
                  <a:pt x="0" y="568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6331" y="2645506"/>
            <a:ext cx="17023742" cy="7813692"/>
            <a:chOff x="0" y="0"/>
            <a:chExt cx="4483619" cy="2057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3619" cy="2057927"/>
            </a:xfrm>
            <a:custGeom>
              <a:avLst/>
              <a:gdLst/>
              <a:ahLst/>
              <a:cxnLst/>
              <a:rect r="r" b="b" t="t" l="l"/>
              <a:pathLst>
                <a:path h="2057927" w="4483619">
                  <a:moveTo>
                    <a:pt x="0" y="0"/>
                  </a:moveTo>
                  <a:lnTo>
                    <a:pt x="4483619" y="0"/>
                  </a:lnTo>
                  <a:lnTo>
                    <a:pt x="4483619" y="2057927"/>
                  </a:lnTo>
                  <a:lnTo>
                    <a:pt x="0" y="20579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83619" cy="2115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26331" y="2916118"/>
            <a:ext cx="12886859" cy="6778511"/>
          </a:xfrm>
          <a:custGeom>
            <a:avLst/>
            <a:gdLst/>
            <a:ahLst/>
            <a:cxnLst/>
            <a:rect r="r" b="b" t="t" l="l"/>
            <a:pathLst>
              <a:path h="6778511" w="12886859">
                <a:moveTo>
                  <a:pt x="0" y="0"/>
                </a:moveTo>
                <a:lnTo>
                  <a:pt x="12886859" y="0"/>
                </a:lnTo>
                <a:lnTo>
                  <a:pt x="12886859" y="6778512"/>
                </a:lnTo>
                <a:lnTo>
                  <a:pt x="0" y="6778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19" t="-15341" r="-362" b="-1118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00742" y="2773910"/>
            <a:ext cx="4070527" cy="3462986"/>
          </a:xfrm>
          <a:custGeom>
            <a:avLst/>
            <a:gdLst/>
            <a:ahLst/>
            <a:cxnLst/>
            <a:rect r="r" b="b" t="t" l="l"/>
            <a:pathLst>
              <a:path h="3462986" w="4070527">
                <a:moveTo>
                  <a:pt x="0" y="0"/>
                </a:moveTo>
                <a:lnTo>
                  <a:pt x="4070527" y="0"/>
                </a:lnTo>
                <a:lnTo>
                  <a:pt x="4070527" y="3462986"/>
                </a:lnTo>
                <a:lnTo>
                  <a:pt x="0" y="34629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5400000">
            <a:off x="-849366" y="1806831"/>
            <a:ext cx="311732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Mining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89794" y="226735"/>
            <a:ext cx="13311743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spc="-47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Topic Modeling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74788" y="1621115"/>
            <a:ext cx="1331174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 spc="-24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BERTopic with HDBSCAN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63798" y="7892546"/>
            <a:ext cx="7498697" cy="31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9"/>
              </a:lnSpc>
            </a:pPr>
            <a:r>
              <a:rPr lang="en-US" b="true" sz="24999" spc="-122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08</a:t>
            </a:r>
          </a:p>
        </p:txBody>
      </p:sp>
      <p:grpSp>
        <p:nvGrpSpPr>
          <p:cNvPr name="Group 15" id="15"/>
          <p:cNvGrpSpPr/>
          <p:nvPr/>
        </p:nvGrpSpPr>
        <p:grpSpPr>
          <a:xfrm rot="-9849642">
            <a:off x="13449870" y="3187104"/>
            <a:ext cx="936164" cy="329223"/>
            <a:chOff x="0" y="0"/>
            <a:chExt cx="1050189" cy="3693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0189" cy="369323"/>
            </a:xfrm>
            <a:custGeom>
              <a:avLst/>
              <a:gdLst/>
              <a:ahLst/>
              <a:cxnLst/>
              <a:rect r="r" b="b" t="t" l="l"/>
              <a:pathLst>
                <a:path h="369323" w="1050189">
                  <a:moveTo>
                    <a:pt x="239386" y="165354"/>
                  </a:moveTo>
                  <a:lnTo>
                    <a:pt x="1050189" y="165354"/>
                  </a:lnTo>
                  <a:lnTo>
                    <a:pt x="1050189" y="203961"/>
                  </a:lnTo>
                  <a:lnTo>
                    <a:pt x="239373" y="203961"/>
                  </a:lnTo>
                  <a:lnTo>
                    <a:pt x="302255" y="369323"/>
                  </a:lnTo>
                  <a:lnTo>
                    <a:pt x="0" y="184661"/>
                  </a:lnTo>
                  <a:lnTo>
                    <a:pt x="302255" y="0"/>
                  </a:lnTo>
                  <a:lnTo>
                    <a:pt x="239386" y="165354"/>
                  </a:lnTo>
                  <a:close/>
                </a:path>
              </a:pathLst>
            </a:custGeom>
            <a:solidFill>
              <a:srgbClr val="D55E0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0650" y="107950"/>
              <a:ext cx="929539" cy="96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189794" y="1650978"/>
            <a:ext cx="506525" cy="568923"/>
          </a:xfrm>
          <a:custGeom>
            <a:avLst/>
            <a:gdLst/>
            <a:ahLst/>
            <a:cxnLst/>
            <a:rect r="r" b="b" t="t" l="l"/>
            <a:pathLst>
              <a:path h="568923" w="506525">
                <a:moveTo>
                  <a:pt x="0" y="0"/>
                </a:moveTo>
                <a:lnTo>
                  <a:pt x="506525" y="0"/>
                </a:lnTo>
                <a:lnTo>
                  <a:pt x="506525" y="568923"/>
                </a:lnTo>
                <a:lnTo>
                  <a:pt x="0" y="568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5400000">
            <a:off x="-2301524" y="6351100"/>
            <a:ext cx="6021637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Topic Modeling: Toxic-only Results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189794" y="3859374"/>
          <a:ext cx="9656306" cy="3378577"/>
        </p:xfrm>
        <a:graphic>
          <a:graphicData uri="http://schemas.openxmlformats.org/drawingml/2006/table">
            <a:tbl>
              <a:tblPr/>
              <a:tblGrid>
                <a:gridCol w="3731689"/>
                <a:gridCol w="2912435"/>
                <a:gridCol w="3012181"/>
              </a:tblGrid>
              <a:tr h="8446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Coherence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Semantic Diversity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</a:tr>
              <a:tr h="8446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HDBSCAN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0.3399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0.4352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8446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k-means (k = 10)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3778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0.3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913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6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k-means (k = 5)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0.3670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0.3341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13593443" y="3818247"/>
            <a:ext cx="3419704" cy="3419704"/>
          </a:xfrm>
          <a:custGeom>
            <a:avLst/>
            <a:gdLst/>
            <a:ahLst/>
            <a:cxnLst/>
            <a:rect r="r" b="b" t="t" l="l"/>
            <a:pathLst>
              <a:path h="3419704" w="3419704">
                <a:moveTo>
                  <a:pt x="0" y="0"/>
                </a:moveTo>
                <a:lnTo>
                  <a:pt x="3419704" y="0"/>
                </a:lnTo>
                <a:lnTo>
                  <a:pt x="3419704" y="3419704"/>
                </a:lnTo>
                <a:lnTo>
                  <a:pt x="0" y="3419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849366" y="1806831"/>
            <a:ext cx="311732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Mining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9794" y="843801"/>
            <a:ext cx="13311743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spc="-47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Topic Modeling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63798" y="7892546"/>
            <a:ext cx="7498697" cy="31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9"/>
              </a:lnSpc>
            </a:pPr>
            <a:r>
              <a:rPr lang="en-US" b="true" sz="24999" spc="-122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27822" y="2238180"/>
            <a:ext cx="1331174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 spc="-24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Results: Identity Hate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189794" y="2300893"/>
            <a:ext cx="506525" cy="503225"/>
          </a:xfrm>
          <a:custGeom>
            <a:avLst/>
            <a:gdLst/>
            <a:ahLst/>
            <a:cxnLst/>
            <a:rect r="r" b="b" t="t" l="l"/>
            <a:pathLst>
              <a:path h="503225" w="506525">
                <a:moveTo>
                  <a:pt x="0" y="0"/>
                </a:moveTo>
                <a:lnTo>
                  <a:pt x="506525" y="0"/>
                </a:lnTo>
                <a:lnTo>
                  <a:pt x="506525" y="503225"/>
                </a:lnTo>
                <a:lnTo>
                  <a:pt x="0" y="5032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-2657126" y="5995498"/>
            <a:ext cx="673284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Topic Modeling: Identity Hate Results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6331" y="2508104"/>
            <a:ext cx="16761669" cy="7778896"/>
          </a:xfrm>
          <a:custGeom>
            <a:avLst/>
            <a:gdLst/>
            <a:ahLst/>
            <a:cxnLst/>
            <a:rect r="r" b="b" t="t" l="l"/>
            <a:pathLst>
              <a:path h="7778896" w="16761669">
                <a:moveTo>
                  <a:pt x="0" y="0"/>
                </a:moveTo>
                <a:lnTo>
                  <a:pt x="16761669" y="0"/>
                </a:lnTo>
                <a:lnTo>
                  <a:pt x="16761669" y="7778896"/>
                </a:lnTo>
                <a:lnTo>
                  <a:pt x="0" y="77788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5400000">
            <a:off x="-2657126" y="5995498"/>
            <a:ext cx="673284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Topic Modeling: Identity Hate Results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-849366" y="1806831"/>
            <a:ext cx="311732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Mining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9794" y="226735"/>
            <a:ext cx="13311743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spc="-47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Topic Modeling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63798" y="7892546"/>
            <a:ext cx="7498697" cy="31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9"/>
              </a:lnSpc>
            </a:pPr>
            <a:r>
              <a:rPr lang="en-US" b="true" sz="24999" spc="-122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10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189794" y="1683827"/>
            <a:ext cx="506525" cy="503225"/>
          </a:xfrm>
          <a:custGeom>
            <a:avLst/>
            <a:gdLst/>
            <a:ahLst/>
            <a:cxnLst/>
            <a:rect r="r" b="b" t="t" l="l"/>
            <a:pathLst>
              <a:path h="503225" w="506525">
                <a:moveTo>
                  <a:pt x="0" y="0"/>
                </a:moveTo>
                <a:lnTo>
                  <a:pt x="506525" y="0"/>
                </a:lnTo>
                <a:lnTo>
                  <a:pt x="506525" y="503225"/>
                </a:lnTo>
                <a:lnTo>
                  <a:pt x="0" y="5032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74788" y="1621115"/>
            <a:ext cx="1331174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 spc="-24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BERTopic with HDBSCAN (Identity Hate)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189794" y="3257946"/>
            <a:ext cx="12058449" cy="5449153"/>
          </a:xfrm>
          <a:custGeom>
            <a:avLst/>
            <a:gdLst/>
            <a:ahLst/>
            <a:cxnLst/>
            <a:rect r="r" b="b" t="t" l="l"/>
            <a:pathLst>
              <a:path h="5449153" w="12058449">
                <a:moveTo>
                  <a:pt x="0" y="0"/>
                </a:moveTo>
                <a:lnTo>
                  <a:pt x="12058449" y="0"/>
                </a:lnTo>
                <a:lnTo>
                  <a:pt x="12058449" y="5449153"/>
                </a:lnTo>
                <a:lnTo>
                  <a:pt x="0" y="54491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5400000">
            <a:off x="-849366" y="1806831"/>
            <a:ext cx="311732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Mining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89794" y="226735"/>
            <a:ext cx="13311743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spc="-47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Topic Modeling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3798" y="7892546"/>
            <a:ext cx="7498697" cy="31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9"/>
              </a:lnSpc>
            </a:pPr>
            <a:r>
              <a:rPr lang="en-US" b="true" sz="24999" spc="-122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11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189794" y="1683827"/>
            <a:ext cx="506525" cy="503225"/>
          </a:xfrm>
          <a:custGeom>
            <a:avLst/>
            <a:gdLst/>
            <a:ahLst/>
            <a:cxnLst/>
            <a:rect r="r" b="b" t="t" l="l"/>
            <a:pathLst>
              <a:path h="503225" w="506525">
                <a:moveTo>
                  <a:pt x="0" y="0"/>
                </a:moveTo>
                <a:lnTo>
                  <a:pt x="506525" y="0"/>
                </a:lnTo>
                <a:lnTo>
                  <a:pt x="506525" y="503225"/>
                </a:lnTo>
                <a:lnTo>
                  <a:pt x="0" y="5032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74788" y="1621115"/>
            <a:ext cx="1331174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 spc="-24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BERTopic with HDBSCAN (Identity Hate)</a:t>
            </a: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-2657126" y="5995498"/>
            <a:ext cx="673284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Topic Modeling: Identity Hate Results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-2174619" y="6478005"/>
            <a:ext cx="5767827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Strengths and Limitations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849366" y="1806831"/>
            <a:ext cx="311732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Mining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89794" y="843801"/>
            <a:ext cx="14161242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spc="-47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Strengths and Limitations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44351" y="2473231"/>
            <a:ext cx="13225123" cy="686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99" spc="5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Text Classification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Tuned </a:t>
            </a:r>
            <a:r>
              <a:rPr lang="en-US" b="true" sz="2799" spc="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Logistic Regression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and </a:t>
            </a:r>
            <a:r>
              <a:rPr lang="en-US" b="true" sz="2799" spc="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SGD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emerged as the strongest statistical models</a:t>
            </a:r>
          </a:p>
          <a:p>
            <a:pPr algn="l" marL="1209039" indent="-403013" lvl="2">
              <a:lnSpc>
                <a:spcPts val="3779"/>
              </a:lnSpc>
              <a:buFont typeface="Arial"/>
              <a:buChar char="⚬"/>
            </a:pP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SGD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offered fas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ter training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,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whil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Logistic Regression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achieved the b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est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overall 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performance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b="true" sz="2799" spc="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DistilBERT 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consistently outperformed classical models, especially on</a:t>
            </a:r>
            <a:r>
              <a:rPr lang="en-US" b="true" sz="2799" spc="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context-dependent and</a:t>
            </a:r>
            <a:r>
              <a:rPr lang="en-US" b="true" sz="2799" spc="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 rare toxicity labels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b="true" sz="2799" spc="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Limitation: 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single-model approaches were used</a:t>
            </a:r>
          </a:p>
          <a:p>
            <a:pPr algn="l">
              <a:lnSpc>
                <a:spcPts val="1707"/>
              </a:lnSpc>
            </a:pPr>
          </a:p>
          <a:p>
            <a:pPr algn="l">
              <a:lnSpc>
                <a:spcPts val="3779"/>
              </a:lnSpc>
            </a:pPr>
            <a:r>
              <a:rPr lang="en-US" sz="2799" spc="5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Topic Modeling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</a:t>
            </a: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b="true" sz="2799" spc="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LDA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and </a:t>
            </a:r>
            <a:r>
              <a:rPr lang="en-US" b="true" sz="2799" spc="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NMF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produced relatively decent 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topics but struggled with </a:t>
            </a:r>
            <a:r>
              <a:rPr lang="en-US" b="true" sz="2799" spc="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semantic overlap</a:t>
            </a:r>
          </a:p>
          <a:p>
            <a:pPr algn="l" marL="604519" indent="-302260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pc="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BERTopic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b</a:t>
            </a:r>
            <a:r>
              <a:rPr lang="en-US" sz="2799" spc="55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etter captured nuanced, d</a:t>
            </a:r>
            <a:r>
              <a:rPr lang="en-US" sz="2799" spc="55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2799" spc="55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verse 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forms of toxic language</a:t>
            </a:r>
          </a:p>
          <a:p>
            <a:pPr algn="l" marL="604519" indent="-302260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pc="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Limitation:</a:t>
            </a:r>
            <a:r>
              <a:rPr lang="en-US" sz="2799" spc="5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embedding-based models are more sensitive to noise and produce many outliers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63798" y="7892546"/>
            <a:ext cx="7498697" cy="31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9"/>
              </a:lnSpc>
            </a:pPr>
            <a:r>
              <a:rPr lang="en-US" b="true" sz="24999" spc="-122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189794" y="8437828"/>
            <a:ext cx="510719" cy="443415"/>
          </a:xfrm>
          <a:custGeom>
            <a:avLst/>
            <a:gdLst/>
            <a:ahLst/>
            <a:cxnLst/>
            <a:rect r="r" b="b" t="t" l="l"/>
            <a:pathLst>
              <a:path h="443415" w="510719">
                <a:moveTo>
                  <a:pt x="0" y="0"/>
                </a:moveTo>
                <a:lnTo>
                  <a:pt x="510719" y="0"/>
                </a:lnTo>
                <a:lnTo>
                  <a:pt x="510719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89794" y="5824346"/>
            <a:ext cx="510719" cy="443415"/>
          </a:xfrm>
          <a:custGeom>
            <a:avLst/>
            <a:gdLst/>
            <a:ahLst/>
            <a:cxnLst/>
            <a:rect r="r" b="b" t="t" l="l"/>
            <a:pathLst>
              <a:path h="443415" w="510719">
                <a:moveTo>
                  <a:pt x="0" y="0"/>
                </a:moveTo>
                <a:lnTo>
                  <a:pt x="510719" y="0"/>
                </a:lnTo>
                <a:lnTo>
                  <a:pt x="510719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161219" y="2511331"/>
            <a:ext cx="493840" cy="432745"/>
          </a:xfrm>
          <a:custGeom>
            <a:avLst/>
            <a:gdLst/>
            <a:ahLst/>
            <a:cxnLst/>
            <a:rect r="r" b="b" t="t" l="l"/>
            <a:pathLst>
              <a:path h="432745" w="493840">
                <a:moveTo>
                  <a:pt x="0" y="0"/>
                </a:moveTo>
                <a:lnTo>
                  <a:pt x="493839" y="0"/>
                </a:lnTo>
                <a:lnTo>
                  <a:pt x="493839" y="432745"/>
                </a:lnTo>
                <a:lnTo>
                  <a:pt x="0" y="432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55524" y="3040494"/>
            <a:ext cx="10861783" cy="612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600" spc="5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Classifi</a:t>
            </a:r>
            <a:r>
              <a:rPr lang="en-US" b="true" sz="2600" spc="52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cation:</a:t>
            </a:r>
          </a:p>
          <a:p>
            <a:pPr algn="l" marL="561341" indent="-280670" lvl="1">
              <a:lnSpc>
                <a:spcPts val="35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pc="52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Deep Learning vs. Traditional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 contextual embeddings consistently outperformed lexic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al repres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ent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ations</a:t>
            </a:r>
          </a:p>
          <a:p>
            <a:pPr algn="l" marL="561341" indent="-280670" lvl="1">
              <a:lnSpc>
                <a:spcPts val="35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pc="52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Addressed Challenges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s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u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cce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ssfully ma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na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ged </a:t>
            </a:r>
            <a:r>
              <a:rPr lang="en-US" b="true" sz="2600" spc="52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multi-label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structure and </a:t>
            </a:r>
            <a:r>
              <a:rPr lang="en-US" b="true" sz="2600" spc="52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severe class imbalance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600" spc="52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Top</a:t>
            </a:r>
            <a:r>
              <a:rPr lang="en-US" b="true" sz="2600" spc="52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ic Modeling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</a:t>
            </a:r>
          </a:p>
          <a:p>
            <a:pPr algn="l" marL="561341" indent="-280670" lvl="1">
              <a:lnSpc>
                <a:spcPts val="351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Revealed </a:t>
            </a:r>
            <a:r>
              <a:rPr lang="en-US" b="true" sz="2600" spc="52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recurring themes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b="true" sz="2600" spc="52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and nuanced patterns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in toxic comments beyond classification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</a:p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b="true" sz="2600" spc="52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Future Developments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</a:t>
            </a:r>
          </a:p>
          <a:p>
            <a:pPr algn="l" marL="561341" indent="-280670" lvl="1">
              <a:lnSpc>
                <a:spcPts val="35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pc="52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Optimization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 ensemble methods and model stacking</a:t>
            </a:r>
          </a:p>
          <a:p>
            <a:pPr algn="l" marL="561341" indent="-280670" lvl="1">
              <a:lnSpc>
                <a:spcPts val="35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pc="52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Hybrid approaches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 combine classification with topic modeling</a:t>
            </a:r>
          </a:p>
          <a:p>
            <a:pPr algn="l" marL="561341" indent="-280670" lvl="1">
              <a:lnSpc>
                <a:spcPts val="35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pc="52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Scaling</a:t>
            </a:r>
            <a:r>
              <a:rPr lang="en-US" sz="2600" spc="52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 extension to multilingual datasets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209740" y="2969925"/>
            <a:ext cx="605929" cy="600075"/>
          </a:xfrm>
          <a:custGeom>
            <a:avLst/>
            <a:gdLst/>
            <a:ahLst/>
            <a:cxnLst/>
            <a:rect r="r" b="b" t="t" l="l"/>
            <a:pathLst>
              <a:path h="600075" w="605929">
                <a:moveTo>
                  <a:pt x="0" y="0"/>
                </a:moveTo>
                <a:lnTo>
                  <a:pt x="605929" y="0"/>
                </a:lnTo>
                <a:lnTo>
                  <a:pt x="605929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09740" y="5600909"/>
            <a:ext cx="605929" cy="600037"/>
          </a:xfrm>
          <a:custGeom>
            <a:avLst/>
            <a:gdLst/>
            <a:ahLst/>
            <a:cxnLst/>
            <a:rect r="r" b="b" t="t" l="l"/>
            <a:pathLst>
              <a:path h="600037" w="605929">
                <a:moveTo>
                  <a:pt x="0" y="0"/>
                </a:moveTo>
                <a:lnTo>
                  <a:pt x="605929" y="0"/>
                </a:lnTo>
                <a:lnTo>
                  <a:pt x="605929" y="600037"/>
                </a:lnTo>
                <a:lnTo>
                  <a:pt x="0" y="6000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400000">
            <a:off x="-1413193" y="7239431"/>
            <a:ext cx="4244976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Conclusions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-849366" y="1806831"/>
            <a:ext cx="311732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Text Mining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63798" y="7892546"/>
            <a:ext cx="7498697" cy="31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9"/>
              </a:lnSpc>
            </a:pPr>
            <a:r>
              <a:rPr lang="en-US" b="true" sz="24999" spc="-122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268677" y="7342131"/>
            <a:ext cx="488055" cy="678192"/>
          </a:xfrm>
          <a:custGeom>
            <a:avLst/>
            <a:gdLst/>
            <a:ahLst/>
            <a:cxnLst/>
            <a:rect r="r" b="b" t="t" l="l"/>
            <a:pathLst>
              <a:path h="678192" w="488055">
                <a:moveTo>
                  <a:pt x="0" y="0"/>
                </a:moveTo>
                <a:lnTo>
                  <a:pt x="488055" y="0"/>
                </a:lnTo>
                <a:lnTo>
                  <a:pt x="488055" y="678192"/>
                </a:lnTo>
                <a:lnTo>
                  <a:pt x="0" y="6781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89794" y="843801"/>
            <a:ext cx="14161242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spc="-475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Conclusions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33071" y="6129622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97076" y="4471703"/>
            <a:ext cx="9493848" cy="165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218"/>
              </a:lnSpc>
              <a:spcBef>
                <a:spcPct val="0"/>
              </a:spcBef>
            </a:pPr>
            <a:r>
              <a:rPr lang="en-US" b="true" sz="12998" spc="-63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DAG-CYLo7RM</dc:identifier>
  <dcterms:modified xsi:type="dcterms:W3CDTF">2011-08-01T06:04:30Z</dcterms:modified>
  <cp:revision>1</cp:revision>
  <dc:title>Text Mining Presentation</dc:title>
</cp:coreProperties>
</file>